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9"/>
  </p:notesMasterIdLst>
  <p:sldIdLst>
    <p:sldId id="257" r:id="rId5"/>
    <p:sldId id="260" r:id="rId6"/>
    <p:sldId id="269" r:id="rId7"/>
    <p:sldId id="26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9BAF"/>
    <a:srgbClr val="719AB7"/>
    <a:srgbClr val="679CB0"/>
    <a:srgbClr val="7FAABE"/>
    <a:srgbClr val="B5121B"/>
    <a:srgbClr val="000000"/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48" autoAdjust="0"/>
    <p:restoredTop sz="94789" autoAdjust="0"/>
  </p:normalViewPr>
  <p:slideViewPr>
    <p:cSldViewPr snapToGrid="0">
      <p:cViewPr varScale="1">
        <p:scale>
          <a:sx n="66" d="100"/>
          <a:sy n="66" d="100"/>
        </p:scale>
        <p:origin x="1085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2F3E7-441F-477B-9032-3EE7BEB30DA2}" type="datetimeFigureOut">
              <a:rPr lang="en-GB" smtClean="0"/>
              <a:t>18/02/2026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2F0C5-9915-4C9D-B9C1-C3246B8D4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5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Main presentation</a:t>
            </a:r>
            <a:r>
              <a:rPr lang="en-GB" baseline="0" dirty="0"/>
              <a:t> title slide. 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60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 descr="Red background">
            <a:extLst>
              <a:ext uri="{FF2B5EF4-FFF2-40B4-BE49-F238E27FC236}">
                <a16:creationId xmlns:a16="http://schemas.microsoft.com/office/drawing/2014/main" id="{1EF2C280-F524-405F-B409-A0B3EEB3A76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195942" y="195942"/>
            <a:ext cx="11812555" cy="6475445"/>
          </a:xfrm>
          <a:custGeom>
            <a:avLst/>
            <a:gdLst/>
            <a:ahLst/>
            <a:cxnLst/>
            <a:rect l="l" t="t" r="r" b="b"/>
            <a:pathLst>
              <a:path w="12048490" h="6713220">
                <a:moveTo>
                  <a:pt x="0" y="6713004"/>
                </a:moveTo>
                <a:lnTo>
                  <a:pt x="12048210" y="6713004"/>
                </a:lnTo>
                <a:lnTo>
                  <a:pt x="12048210" y="0"/>
                </a:lnTo>
                <a:lnTo>
                  <a:pt x="0" y="0"/>
                </a:lnTo>
                <a:lnTo>
                  <a:pt x="0" y="6713004"/>
                </a:lnTo>
                <a:close/>
              </a:path>
            </a:pathLst>
          </a:custGeom>
          <a:solidFill>
            <a:srgbClr val="B51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7BD4E107-ACD4-4A6A-8618-FDF878C3B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69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95C828A-191B-48BF-BB4A-DF202F883D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82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presentation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pic>
        <p:nvPicPr>
          <p:cNvPr id="7" name="Picture 6" descr="Lancaster University">
            <a:extLst>
              <a:ext uri="{FF2B5EF4-FFF2-40B4-BE49-F238E27FC236}">
                <a16:creationId xmlns:a16="http://schemas.microsoft.com/office/drawing/2014/main" id="{2528AF01-8AC0-4C10-8386-19F11482E5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6682" y="762000"/>
            <a:ext cx="2565317" cy="810971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 descr="University Academy 92 Manchester">
            <a:extLst>
              <a:ext uri="{FF2B5EF4-FFF2-40B4-BE49-F238E27FC236}">
                <a16:creationId xmlns:a16="http://schemas.microsoft.com/office/drawing/2014/main" id="{97C89DA9-7708-4EE0-9C2E-17C843B198F5}"/>
              </a:ext>
            </a:extLst>
          </p:cNvPr>
          <p:cNvSpPr/>
          <p:nvPr userDrawn="1"/>
        </p:nvSpPr>
        <p:spPr>
          <a:xfrm>
            <a:off x="6888886" y="697941"/>
            <a:ext cx="1481137" cy="7776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 descr="Blackburn College">
            <a:extLst>
              <a:ext uri="{FF2B5EF4-FFF2-40B4-BE49-F238E27FC236}">
                <a16:creationId xmlns:a16="http://schemas.microsoft.com/office/drawing/2014/main" id="{B2D8FC4D-6A10-4AFC-90EE-36BEDC612D9F}"/>
              </a:ext>
            </a:extLst>
          </p:cNvPr>
          <p:cNvSpPr/>
          <p:nvPr userDrawn="1"/>
        </p:nvSpPr>
        <p:spPr>
          <a:xfrm>
            <a:off x="4800858" y="717994"/>
            <a:ext cx="1763493" cy="617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Blackpool &amp; The Fylde college">
            <a:extLst>
              <a:ext uri="{FF2B5EF4-FFF2-40B4-BE49-F238E27FC236}">
                <a16:creationId xmlns:a16="http://schemas.microsoft.com/office/drawing/2014/main" id="{74C67722-6D8E-4717-BBA0-D9603159F8C3}"/>
              </a:ext>
            </a:extLst>
          </p:cNvPr>
          <p:cNvSpPr/>
          <p:nvPr userDrawn="1"/>
        </p:nvSpPr>
        <p:spPr>
          <a:xfrm>
            <a:off x="2927182" y="665080"/>
            <a:ext cx="1543981" cy="6424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 descr="Furness college">
            <a:extLst>
              <a:ext uri="{FF2B5EF4-FFF2-40B4-BE49-F238E27FC236}">
                <a16:creationId xmlns:a16="http://schemas.microsoft.com/office/drawing/2014/main" id="{544291F1-FBE8-4BF5-82D3-3E12A047DE75}"/>
              </a:ext>
            </a:extLst>
          </p:cNvPr>
          <p:cNvSpPr/>
          <p:nvPr userDrawn="1"/>
        </p:nvSpPr>
        <p:spPr>
          <a:xfrm>
            <a:off x="891120" y="700908"/>
            <a:ext cx="1786115" cy="6995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B57897E-9B28-47E3-BC7F-FA671A168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63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 descr="Blue background">
            <a:extLst>
              <a:ext uri="{FF2B5EF4-FFF2-40B4-BE49-F238E27FC236}">
                <a16:creationId xmlns:a16="http://schemas.microsoft.com/office/drawing/2014/main" id="{35A2C7DA-9587-4F85-9BC4-F30F0308AA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 userDrawn="1"/>
        </p:nvSpPr>
        <p:spPr>
          <a:xfrm>
            <a:off x="185057" y="181946"/>
            <a:ext cx="11821886" cy="6494107"/>
          </a:xfrm>
          <a:custGeom>
            <a:avLst/>
            <a:gdLst/>
            <a:ahLst/>
            <a:cxnLst/>
            <a:rect l="l" t="t" r="r" b="b"/>
            <a:pathLst>
              <a:path w="12049125" h="6713855">
                <a:moveTo>
                  <a:pt x="0" y="6713410"/>
                </a:moveTo>
                <a:lnTo>
                  <a:pt x="12048617" y="6713410"/>
                </a:lnTo>
                <a:lnTo>
                  <a:pt x="12048617" y="0"/>
                </a:lnTo>
                <a:lnTo>
                  <a:pt x="0" y="0"/>
                </a:lnTo>
                <a:lnTo>
                  <a:pt x="0" y="6713410"/>
                </a:lnTo>
                <a:close/>
              </a:path>
            </a:pathLst>
          </a:custGeom>
          <a:solidFill>
            <a:srgbClr val="709BA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1"/>
              </a:solidFill>
            </a:endParaRPr>
          </a:p>
        </p:txBody>
      </p:sp>
      <p:pic>
        <p:nvPicPr>
          <p:cNvPr id="9" name="Picture 8" descr="Lancaster University">
            <a:extLst>
              <a:ext uri="{FF2B5EF4-FFF2-40B4-BE49-F238E27FC236}">
                <a16:creationId xmlns:a16="http://schemas.microsoft.com/office/drawing/2014/main" id="{B4C545BB-4FC6-4C07-B4BC-1B3873E92B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942" y="762000"/>
            <a:ext cx="2552491" cy="8069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0CF9F2-6D22-4CA4-A596-A6A43B8C79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14400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 </a:t>
            </a:r>
            <a:br>
              <a:rPr lang="en-US" dirty="0"/>
            </a:br>
            <a:r>
              <a:rPr lang="en-US" dirty="0"/>
              <a:t>section title goes here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1B88C-C94B-424C-B0DC-611AA04686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4338" y="4152381"/>
            <a:ext cx="9144000" cy="1655762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</a:p>
          <a:p>
            <a:r>
              <a:rPr lang="en-US" dirty="0"/>
              <a:t>Insert presenter name</a:t>
            </a:r>
            <a:endParaRPr lang="en-GB" dirty="0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260E1F7-11D6-4F9A-9CDB-A1450D1E497D}"/>
              </a:ext>
            </a:extLst>
          </p:cNvPr>
          <p:cNvSpPr/>
          <p:nvPr userDrawn="1"/>
        </p:nvSpPr>
        <p:spPr>
          <a:xfrm>
            <a:off x="992097" y="3829921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BCDE62AB-9720-4075-A15D-483E19C7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1922" y="38327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B6FFB34-2A03-4DFF-8F1A-D7E69F6F8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9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6C40D-D6BC-4D4D-AF4C-44A15AE97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25005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3" y="2313991"/>
            <a:ext cx="9808029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A95A3A47-0757-4333-ACCD-258450620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DE9228C-9B11-4DC9-8F13-D4D1ED507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Picture 13" descr="Lancaster University">
            <a:extLst>
              <a:ext uri="{FF2B5EF4-FFF2-40B4-BE49-F238E27FC236}">
                <a16:creationId xmlns:a16="http://schemas.microsoft.com/office/drawing/2014/main" id="{0D9761CB-0BB4-44A2-BF26-F0470B4DCF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3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62D4-273F-48E4-BC67-135E64C379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72883" y="2313991"/>
            <a:ext cx="9742714" cy="3862971"/>
          </a:xfrm>
        </p:spPr>
        <p:txBody>
          <a:bodyPr/>
          <a:lstStyle>
            <a:lvl1pPr marL="0" indent="0">
              <a:spcAft>
                <a:spcPts val="600"/>
              </a:spcAft>
              <a:buClr>
                <a:srgbClr val="AEB4B9"/>
              </a:buClr>
              <a:buNone/>
              <a:defRPr sz="2600" i="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Template slide: text only (use italics for sub-headings)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59C926E-B465-430E-9BB4-30F751A3E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3" y="475866"/>
            <a:ext cx="8040738" cy="1224153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0BDBDF81-CC4C-4516-B38C-887511BA3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1766" y="1841477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31E803A-17E5-4587-B9C8-543F40CC1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1023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15D4E1DC-C857-4EB7-8E98-3A0E76300C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7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575D8C4-2991-4037-8748-66E7016A65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0940" y="2205022"/>
            <a:ext cx="9913240" cy="1399152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spcBef>
                <a:spcPts val="1110"/>
              </a:spcBef>
              <a:defRPr sz="455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question text here</a:t>
            </a:r>
            <a:endParaRPr lang="en-GB" dirty="0"/>
          </a:p>
        </p:txBody>
      </p:sp>
      <p:pic>
        <p:nvPicPr>
          <p:cNvPr id="8" name="Picture 7" descr="Lancaster University">
            <a:extLst>
              <a:ext uri="{FF2B5EF4-FFF2-40B4-BE49-F238E27FC236}">
                <a16:creationId xmlns:a16="http://schemas.microsoft.com/office/drawing/2014/main" id="{5A0CDDDE-2A8D-4F00-B876-791A126CB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  <p:sp>
        <p:nvSpPr>
          <p:cNvPr id="9" name="object 5">
            <a:extLst>
              <a:ext uri="{FF2B5EF4-FFF2-40B4-BE49-F238E27FC236}">
                <a16:creationId xmlns:a16="http://schemas.microsoft.com/office/drawing/2014/main" id="{A1F40E0C-FCFE-45A8-B4CD-8E1C0339D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2097" y="3830968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4159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55EE488-FA38-4ABE-A8A1-1C0A496D5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92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EAACC63-D887-40E8-8239-FD16AE52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8" y="522516"/>
            <a:ext cx="7568682" cy="1168172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24D0BDC-AEAF-40AB-BD13-7775E2037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38" y="2313991"/>
            <a:ext cx="4965441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81B46DBF-1B89-405C-A53C-EE0D38B3C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9DC973B-EFE1-44F1-9FB7-36E4227439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69696" y="2317095"/>
            <a:ext cx="4965442" cy="3862971"/>
          </a:xfrm>
        </p:spPr>
        <p:txBody>
          <a:bodyPr/>
          <a:lstStyle>
            <a:lvl1pPr>
              <a:buClr>
                <a:srgbClr val="AEB4B9"/>
              </a:buClr>
              <a:defRPr sz="2600">
                <a:solidFill>
                  <a:schemeClr val="tx1"/>
                </a:solidFill>
              </a:defRPr>
            </a:lvl1pPr>
            <a:lvl2pPr>
              <a:buClr>
                <a:srgbClr val="AEB4B9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AEB4B9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AEB4B9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AEB4B9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49C0CEC-03F4-4704-9D20-E00E4CD06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1" name="Picture 20" descr="Lancaster University">
            <a:extLst>
              <a:ext uri="{FF2B5EF4-FFF2-40B4-BE49-F238E27FC236}">
                <a16:creationId xmlns:a16="http://schemas.microsoft.com/office/drawing/2014/main" id="{607635CB-A9C5-437C-8837-4C730E8C63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3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5887E-4F05-4593-B389-647D40DD0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64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9B9D8-EA34-4852-A458-9C736D59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6478" y="2505075"/>
            <a:ext cx="5157787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91B9-1447-4EAE-9AB6-9200E96A9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05AF1-67AB-413D-B37A-83B233A5D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EF35C-6404-4538-8F34-0A8878183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3" name="object 4">
            <a:extLst>
              <a:ext uri="{FF2B5EF4-FFF2-40B4-BE49-F238E27FC236}">
                <a16:creationId xmlns:a16="http://schemas.microsoft.com/office/drawing/2014/main" id="{3D487BA0-3AE0-4031-8055-C6AFDC31E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5846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83E33A9-9C13-43F2-93A7-5CD7A6D52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7" name="Picture 16" descr="Lancaster University">
            <a:extLst>
              <a:ext uri="{FF2B5EF4-FFF2-40B4-BE49-F238E27FC236}">
                <a16:creationId xmlns:a16="http://schemas.microsoft.com/office/drawing/2014/main" id="{24641CFC-5847-40DB-B4F0-5496D257DA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0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E911A0A4-9D31-4F34-8E71-4A07A9FDE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54508" y="1832146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E2592A-4048-4211-B609-EB603E5A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59" y="531848"/>
            <a:ext cx="7568682" cy="1158840"/>
          </a:xfrm>
        </p:spPr>
        <p:txBody>
          <a:bodyPr>
            <a:normAutofit/>
          </a:bodyPr>
          <a:lstStyle>
            <a:lvl1pPr>
              <a:lnSpc>
                <a:spcPts val="3470"/>
              </a:lnSpc>
              <a:spcBef>
                <a:spcPts val="750"/>
              </a:spcBef>
              <a:defRPr sz="36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32CECB2-8BBC-4238-95E4-9CF53BEC0F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5" name="Picture 14" descr="Lancaster University">
            <a:extLst>
              <a:ext uri="{FF2B5EF4-FFF2-40B4-BE49-F238E27FC236}">
                <a16:creationId xmlns:a16="http://schemas.microsoft.com/office/drawing/2014/main" id="{F43189D6-09CC-4664-8F2F-E317A914F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35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88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EB81DE-9DB5-4365-A5C5-617C96B6E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55058" y="609298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63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AEA68D54-1EAD-45D6-B6CC-D0722190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86" y="95973"/>
            <a:ext cx="12001500" cy="6666230"/>
          </a:xfrm>
          <a:custGeom>
            <a:avLst/>
            <a:gdLst/>
            <a:ahLst/>
            <a:cxnLst/>
            <a:rect l="l" t="t" r="r" b="b"/>
            <a:pathLst>
              <a:path w="12001500" h="6666230">
                <a:moveTo>
                  <a:pt x="0" y="6666039"/>
                </a:moveTo>
                <a:lnTo>
                  <a:pt x="12001233" y="6666039"/>
                </a:lnTo>
                <a:lnTo>
                  <a:pt x="12001233" y="0"/>
                </a:lnTo>
                <a:lnTo>
                  <a:pt x="0" y="0"/>
                </a:lnTo>
                <a:lnTo>
                  <a:pt x="0" y="6666039"/>
                </a:lnTo>
                <a:close/>
              </a:path>
            </a:pathLst>
          </a:custGeom>
          <a:ln w="191960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B8E11-7BA2-4A60-A654-2F22523E4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189B7-2C82-485D-8C8C-9F6C4A029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993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3" r:id="rId3"/>
    <p:sldLayoutId id="2147483664" r:id="rId4"/>
    <p:sldLayoutId id="2147483650" r:id="rId5"/>
    <p:sldLayoutId id="2147483665" r:id="rId6"/>
    <p:sldLayoutId id="2147483651" r:id="rId7"/>
    <p:sldLayoutId id="2147483652" r:id="rId8"/>
    <p:sldLayoutId id="2147483653" r:id="rId9"/>
    <p:sldLayoutId id="2147483654" r:id="rId10"/>
    <p:sldLayoutId id="21474836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AEB4B9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AEB4B9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D079-FCD2-4885-8BE0-FD9919EE1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940" y="1669775"/>
            <a:ext cx="9144000" cy="19344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GB" dirty="0"/>
              <a:t>Classification of news and Wikipedia articles of companies , history and religion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60A90-7F07-4A3F-9158-D95B5CA4BB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Sonny Taylor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E0348-3B43-4A2F-B443-1B55BC3F1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30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582F-C08C-43B2-B7A5-87F39D29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Chosen Topic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1853-FD1E-4EF2-A4C4-78FF4377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dirty="0"/>
              <a:t>Motivation for the research questions:  Understand how text preprocessing such as lowercasing , punctuation , removal and stop words affect classification accuracy.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dirty="0"/>
              <a:t>Why you’ve chosen this topic: Wikipedia and news articles provide real world and structured text for analysis. 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dirty="0"/>
              <a:t>There is lots of information about companies , history and religion.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dirty="0"/>
              <a:t>These topics are personally interesting , which makes the project more engaging.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2BEDF-A2BB-4F2F-8D1B-B85B9325BF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50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1F7A2-0938-2DBB-3A23-33857535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5E44-DFFD-D830-B0E4-9CD97812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Initial plan and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0C58B-5318-E07F-DB7D-A7541F726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622" y="1969150"/>
            <a:ext cx="11073418" cy="4604969"/>
          </a:xfrm>
        </p:spPr>
        <p:txBody>
          <a:bodyPr>
            <a:normAutofit fontScale="25000" lnSpcReduction="20000"/>
          </a:bodyPr>
          <a:lstStyle/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5600" dirty="0"/>
              <a:t>What dataset you might use: Wikipedia pages for companies , History , and religion and use categories of each page as gold standard labels. 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5600" dirty="0"/>
              <a:t>News articles about the same topics and manually labelling them if articles are unclear. 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5600" dirty="0"/>
              <a:t>What pre-processing you might need: Change text to lowercase , remove punctuation , remove stop words and remove numbers or unique characters if necessary.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5600" dirty="0"/>
              <a:t>What might your NLP pipeline look like: Convert text to bag of words representation  , train a naive bayes classifier and split data  into 80% training / 20% testing. 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5600" dirty="0"/>
              <a:t>What features you might analyse in order to answer the research question(s) : Compare classification accuracy for different preprocessing steps and examine differences and similarities between Wikipedia and news articles.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GB" sz="5600" dirty="0"/>
              <a:t>How might you evaluate your methods: Accuracy and F1 score and compare predicted labels with gold standard labels.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D3214-0539-168D-04DF-D91FBCDEA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013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23BF-B597-43F1-94B6-13861DD3D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feedback do you want from us now? </a:t>
            </a:r>
            <a:br>
              <a:rPr lang="en-GB" dirty="0"/>
            </a:b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9E2B71-A89E-4C5F-89E5-622478E55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99072" y="6158300"/>
            <a:ext cx="2743200" cy="365125"/>
          </a:xfrm>
          <a:prstGeom prst="rect">
            <a:avLst/>
          </a:prstGeom>
        </p:spPr>
        <p:txBody>
          <a:bodyPr/>
          <a:lstStyle/>
          <a:p>
            <a:fld id="{6998E55D-8E2A-4AFE-A61C-B5DBBB7761E7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D9C7D-907D-7CAA-B5AC-7AFB8F4D4347}"/>
              </a:ext>
            </a:extLst>
          </p:cNvPr>
          <p:cNvSpPr txBox="1"/>
          <p:nvPr/>
        </p:nvSpPr>
        <p:spPr>
          <a:xfrm>
            <a:off x="579812" y="3911741"/>
            <a:ext cx="96908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Is Naive Bayes an appropriate classifier for this project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Is the Wikipedia and news article dataset choice appropriate 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Is the 80/20 train-test split suitable for the dataset 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Is this project scope feasible and realistic for this module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8087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546A"/>
      </a:hlink>
      <a:folHlink>
        <a:srgbClr val="44546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09F49A34EDF34DAF2C3AC8FEAF784F" ma:contentTypeVersion="11" ma:contentTypeDescription="Create a new document." ma:contentTypeScope="" ma:versionID="79bcccf70e70f18e000ebb2c8525f16e">
  <xsd:schema xmlns:xsd="http://www.w3.org/2001/XMLSchema" xmlns:xs="http://www.w3.org/2001/XMLSchema" xmlns:p="http://schemas.microsoft.com/office/2006/metadata/properties" xmlns:ns2="a0e604d2-0d1b-40e0-8fc4-b065aee05f8d" xmlns:ns3="6c465ec4-e807-4c08-873f-c03434ec330f" targetNamespace="http://schemas.microsoft.com/office/2006/metadata/properties" ma:root="true" ma:fieldsID="71bd2d520c8bb9abbaf98143b7eb51f0" ns2:_="" ns3:_="">
    <xsd:import namespace="a0e604d2-0d1b-40e0-8fc4-b065aee05f8d"/>
    <xsd:import namespace="6c465ec4-e807-4c08-873f-c03434ec33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e604d2-0d1b-40e0-8fc4-b065aee05f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465ec4-e807-4c08-873f-c03434ec330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C86064-68E8-457D-B7C6-1BCB151DE67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ECD0C2-9986-49CD-AFF7-919632D30C2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915627-141A-4167-BD59-167111BA0B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e604d2-0d1b-40e0-8fc4-b065aee05f8d"/>
    <ds:schemaRef ds:uri="6c465ec4-e807-4c08-873f-c03434ec33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0</TotalTime>
  <Words>304</Words>
  <Application>Microsoft Office PowerPoint</Application>
  <PresentationFormat>Widescreen</PresentationFormat>
  <Paragraphs>25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Classification of news and Wikipedia articles of companies , history and religion </vt:lpstr>
      <vt:lpstr>Chosen Topic Title</vt:lpstr>
      <vt:lpstr>Initial plan and ideas</vt:lpstr>
      <vt:lpstr>What feedback do you want from us now?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2020-06-05T17:03:52Z</dcterms:created>
  <dcterms:modified xsi:type="dcterms:W3CDTF">2026-02-18T14:10:57Z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0x010100AE09F49A34EDF34DAF2C3AC8FEAF784F</vt:lpwstr>
  </property>
</Properties>
</file>